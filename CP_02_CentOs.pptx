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jEUQt8ED8+3lR/YedsdqDoerN1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b73b98341_0_5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fb73b98341_0_5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fb73b98341_0_5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b73b98341_0_4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3fb73b98341_0_4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fb73b98341_0_4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fb73b98341_0_3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fb73b98341_0_3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fb73b98341_0_3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fb73b98341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3fb73b98341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fb73b98341_0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b73b98341_0_3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g3fb73b98341_0_3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fb73b98341_0_3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b73b98341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fb73b98341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fb73b98341_0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fb73b98341_0_4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3fb73b98341_0_4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fb73b98341_0_4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b73b98341_0_3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g3fb73b98341_0_3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fb73b98341_0_3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b73b98341_0_4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3fb73b98341_0_4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fb73b98341_0_4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GRUPO 6 · FIAP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CentOS Stream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Upstream contínuo, SIGs e uso em produção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063240"/>
            <a:ext cx="3200400" cy="36576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 txBox="1"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Instalação e configuração segura </a:t>
            </a:r>
            <a:r>
              <a:rPr lang="en-US" sz="13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do Cent 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Sistemas Operacionais Linux · Cibersegurança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github.com/F4elWall/CP_02_CentOs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457200" y="228600"/>
            <a:ext cx="2011680" cy="347472"/>
          </a:xfrm>
          <a:prstGeom prst="roundRect">
            <a:avLst>
              <a:gd fmla="val 13158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 txBox="1"/>
          <p:nvPr/>
        </p:nvSpPr>
        <p:spPr>
          <a:xfrm>
            <a:off x="457200" y="22860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F1F2E"/>
                </a:solidFill>
                <a:latin typeface="Calibri"/>
                <a:ea typeface="Calibri"/>
                <a:cs typeface="Calibri"/>
                <a:sym typeface="Calibri"/>
              </a:rPr>
              <a:t>O que é o CentOS Stream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65760" y="1417320"/>
            <a:ext cx="2743200" cy="32004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7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 txBox="1"/>
          <p:nvPr/>
        </p:nvSpPr>
        <p:spPr>
          <a:xfrm>
            <a:off x="502920" y="150876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1F2E"/>
                </a:solidFill>
                <a:latin typeface="Calibri"/>
                <a:ea typeface="Calibri"/>
                <a:cs typeface="Calibri"/>
                <a:sym typeface="Calibri"/>
              </a:rPr>
              <a:t>Fedora Linux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502920" y="19202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21A8"/>
                </a:solidFill>
                <a:latin typeface="Calibri"/>
                <a:ea typeface="Calibri"/>
                <a:cs typeface="Calibri"/>
                <a:sym typeface="Calibri"/>
              </a:rPr>
              <a:t>Inovação e testes de novas tecnologias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502920" y="2377440"/>
            <a:ext cx="24688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Distribui novas tecnologias antes de qualquer outro projeto Red Hat. Tem um </a:t>
            </a: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iclo curto de ~6 meses.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337560" y="1417320"/>
            <a:ext cx="2743200" cy="3200400"/>
          </a:xfrm>
          <a:prstGeom prst="roundRect">
            <a:avLst>
              <a:gd fmla="val 2667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7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 txBox="1"/>
          <p:nvPr/>
        </p:nvSpPr>
        <p:spPr>
          <a:xfrm>
            <a:off x="3474720" y="150876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CentOS Stream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3474720" y="19202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Upstream contínuo do RHEL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3474720" y="2377440"/>
            <a:ext cx="24688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3F4F6"/>
                </a:solidFill>
                <a:latin typeface="Calibri"/>
                <a:ea typeface="Calibri"/>
                <a:cs typeface="Calibri"/>
                <a:sym typeface="Calibri"/>
              </a:rPr>
              <a:t>Posicionado </a:t>
            </a:r>
            <a:r>
              <a:rPr lang="en-US" sz="1100">
                <a:solidFill>
                  <a:srgbClr val="F3F4F6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i="0" lang="en-US" sz="1100" u="none" cap="none" strike="noStrike">
                <a:solidFill>
                  <a:srgbClr val="F3F4F6"/>
                </a:solidFill>
                <a:latin typeface="Calibri"/>
                <a:ea typeface="Calibri"/>
                <a:cs typeface="Calibri"/>
                <a:sym typeface="Calibri"/>
              </a:rPr>
              <a:t>entre Fedora e RHEL</a:t>
            </a:r>
            <a:r>
              <a:rPr lang="en-US" sz="1100">
                <a:solidFill>
                  <a:srgbClr val="F3F4F6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b="0" i="0" lang="en-US" sz="1100" u="none" cap="none" strike="noStrike">
                <a:solidFill>
                  <a:srgbClr val="F3F4F6"/>
                </a:solidFill>
                <a:latin typeface="Calibri"/>
                <a:ea typeface="Calibri"/>
                <a:cs typeface="Calibri"/>
                <a:sym typeface="Calibri"/>
              </a:rPr>
              <a:t>. Acompanha as próximas versões secundárias do RHEL em tempo real. Atualizações contínuas e abertas à comunidade.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309360" y="1417320"/>
            <a:ext cx="2743200" cy="32004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7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 txBox="1"/>
          <p:nvPr/>
        </p:nvSpPr>
        <p:spPr>
          <a:xfrm>
            <a:off x="6446520" y="150876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1F2E"/>
                </a:solidFill>
                <a:latin typeface="Calibri"/>
                <a:ea typeface="Calibri"/>
                <a:cs typeface="Calibri"/>
                <a:sym typeface="Calibri"/>
              </a:rPr>
              <a:t>RHEL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6446520" y="19202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21A8"/>
                </a:solidFill>
                <a:latin typeface="Calibri"/>
                <a:ea typeface="Calibri"/>
                <a:cs typeface="Calibri"/>
                <a:sym typeface="Calibri"/>
              </a:rPr>
              <a:t>Produto empresarial Red Hat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6446520" y="2377440"/>
            <a:ext cx="24688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Estável, com suporte comercial, certificações e ciclo de vida de 10 anos. Recebe mudanças validadas no CentOS Stream.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108960" y="2971800"/>
            <a:ext cx="228600" cy="73152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080760" y="2971800"/>
            <a:ext cx="228600" cy="73152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 txBox="1"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Fedora Linux  →  CentOS Stream  →  RHEL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365760" y="502920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CP_02_CentOs · github.com/F4elWall/CP_02_CentOs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457200" y="182880"/>
            <a:ext cx="2560320" cy="347472"/>
          </a:xfrm>
          <a:prstGeom prst="roundRect">
            <a:avLst>
              <a:gd fmla="val 13158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 txBox="1"/>
          <p:nvPr/>
        </p:nvSpPr>
        <p:spPr>
          <a:xfrm>
            <a:off x="457200" y="18288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PARTICIONAMENTO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1F2E"/>
                </a:solidFill>
                <a:latin typeface="Calibri"/>
                <a:ea typeface="Calibri"/>
                <a:cs typeface="Calibri"/>
                <a:sym typeface="Calibri"/>
              </a:rPr>
              <a:t>Esquema LVM sobre LUKS2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65760" y="1280160"/>
            <a:ext cx="8412480" cy="475488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502920" y="1316736"/>
            <a:ext cx="5029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sda1  /boot/efi  1 GB  FAT32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5577840" y="1316736"/>
            <a:ext cx="3017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UEFI — fora da criptografia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65760" y="1847088"/>
            <a:ext cx="8412480" cy="475488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 txBox="1"/>
          <p:nvPr/>
        </p:nvSpPr>
        <p:spPr>
          <a:xfrm>
            <a:off x="502920" y="1883664"/>
            <a:ext cx="5029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sda2  /boot  1 GB  XFS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5577840" y="1883664"/>
            <a:ext cx="3017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GRUB precisa ler kernel antes da chave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65760" y="2414016"/>
            <a:ext cx="8412480" cy="475488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 txBox="1"/>
          <p:nvPr/>
        </p:nvSpPr>
        <p:spPr>
          <a:xfrm>
            <a:off x="502920" y="2450592"/>
            <a:ext cx="5029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sda3  ~58 GB  LUKS2  (aes-xts-plain64 · argon2id · 512 bits)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5577840" y="2450592"/>
            <a:ext cx="3017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Volume Group vg_sistema (dentro do LUKS2)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365760" y="3401568"/>
            <a:ext cx="1828800" cy="25603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2240280" y="3401568"/>
            <a:ext cx="914400" cy="25603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Tamanho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3200400" y="3401568"/>
            <a:ext cx="1371600" cy="25603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4617720" y="3401568"/>
            <a:ext cx="4114800" cy="25603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Opções de montagem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65760" y="3675888"/>
            <a:ext cx="1828800" cy="20116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 txBox="1"/>
          <p:nvPr/>
        </p:nvSpPr>
        <p:spPr>
          <a:xfrm>
            <a:off x="411480" y="367588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lv_root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2240280" y="3675888"/>
            <a:ext cx="914400" cy="20116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 txBox="1"/>
          <p:nvPr/>
        </p:nvSpPr>
        <p:spPr>
          <a:xfrm>
            <a:off x="2286000" y="367588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15 GB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200400" y="3675888"/>
            <a:ext cx="1371600" cy="20116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 txBox="1"/>
          <p:nvPr/>
        </p:nvSpPr>
        <p:spPr>
          <a:xfrm>
            <a:off x="3246120" y="367588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617720" y="3675888"/>
            <a:ext cx="4114800" cy="20116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 txBox="1"/>
          <p:nvPr/>
        </p:nvSpPr>
        <p:spPr>
          <a:xfrm>
            <a:off x="4663440" y="3675888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defaults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65760" y="3877056"/>
            <a:ext cx="18288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 txBox="1"/>
          <p:nvPr/>
        </p:nvSpPr>
        <p:spPr>
          <a:xfrm>
            <a:off x="411480" y="3877056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lv_var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240280" y="3877056"/>
            <a:ext cx="9144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 txBox="1"/>
          <p:nvPr/>
        </p:nvSpPr>
        <p:spPr>
          <a:xfrm>
            <a:off x="228600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8 GB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200400" y="3877056"/>
            <a:ext cx="1371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3246120" y="3877056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/var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617720" y="3877056"/>
            <a:ext cx="41148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 txBox="1"/>
          <p:nvPr/>
        </p:nvSpPr>
        <p:spPr>
          <a:xfrm>
            <a:off x="4663440" y="3877056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nodev 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65760" y="4078224"/>
            <a:ext cx="1828800" cy="20116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 txBox="1"/>
          <p:nvPr/>
        </p:nvSpPr>
        <p:spPr>
          <a:xfrm>
            <a:off x="411480" y="407822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lv_varlog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240280" y="4078224"/>
            <a:ext cx="914400" cy="20116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 txBox="1"/>
          <p:nvPr/>
        </p:nvSpPr>
        <p:spPr>
          <a:xfrm>
            <a:off x="2286000" y="40782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5 GB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200400" y="4078224"/>
            <a:ext cx="1371600" cy="20116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 txBox="1"/>
          <p:nvPr/>
        </p:nvSpPr>
        <p:spPr>
          <a:xfrm>
            <a:off x="3246120" y="407822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/var/log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617720" y="4078224"/>
            <a:ext cx="4114800" cy="20116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 txBox="1"/>
          <p:nvPr/>
        </p:nvSpPr>
        <p:spPr>
          <a:xfrm>
            <a:off x="4663440" y="4078224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nodev · nosuid · noexec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65760" y="4279392"/>
            <a:ext cx="18288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 txBox="1"/>
          <p:nvPr/>
        </p:nvSpPr>
        <p:spPr>
          <a:xfrm>
            <a:off x="411480" y="4279392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lv_vartmp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240280" y="4279392"/>
            <a:ext cx="9144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 txBox="1"/>
          <p:nvPr/>
        </p:nvSpPr>
        <p:spPr>
          <a:xfrm>
            <a:off x="2286000" y="427939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 GB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200400" y="4279392"/>
            <a:ext cx="1371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3246120" y="427939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/var/tmp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617720" y="4279392"/>
            <a:ext cx="41148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4663440" y="4279392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nodev · nosuid · noexec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65760" y="4480560"/>
            <a:ext cx="1828800" cy="20116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411480" y="448056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lv_home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2240280" y="4480560"/>
            <a:ext cx="914400" cy="20116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2286000" y="448056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10 GB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3200400" y="4480560"/>
            <a:ext cx="1371600" cy="20116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3246120" y="448056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/home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617720" y="4480560"/>
            <a:ext cx="4114800" cy="20116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4663440" y="4480560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nodev · nosuid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365760" y="4681728"/>
            <a:ext cx="18288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411480" y="468172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lv_tmp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2240280" y="4681728"/>
            <a:ext cx="9144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2286000" y="468172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 GB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3200400" y="4681728"/>
            <a:ext cx="1371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3246120" y="468172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/tmp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617720" y="4681728"/>
            <a:ext cx="41148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4663440" y="4681728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nodev · nosuid · noexec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365760" y="4882896"/>
            <a:ext cx="1828800" cy="20116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411480" y="4882896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lv_swap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2240280" y="4882896"/>
            <a:ext cx="914400" cy="20116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2286000" y="488289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4 GB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3200400" y="4882896"/>
            <a:ext cx="1371600" cy="20116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3246120" y="4882896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swap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4617720" y="4882896"/>
            <a:ext cx="4114800" cy="20116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4663440" y="4882896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365760" y="5047488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CP_02_CentOs · github.com/F4elWall/CP_02_CentOs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2E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/>
          <p:nvPr/>
        </p:nvSpPr>
        <p:spPr>
          <a:xfrm>
            <a:off x="457200" y="182880"/>
            <a:ext cx="2286000" cy="347472"/>
          </a:xfrm>
          <a:prstGeom prst="roundRect">
            <a:avLst>
              <a:gd fmla="val 13158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457200" y="18288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INSTALAÇÃO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LVM sobre LUKS — evidências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65760" y="1280160"/>
            <a:ext cx="4160520" cy="3566160"/>
          </a:xfrm>
          <a:prstGeom prst="roundRect">
            <a:avLst>
              <a:gd fmla="val 2051" name="adj"/>
            </a:avLst>
          </a:prstGeom>
          <a:solidFill>
            <a:srgbClr val="2D2B3D"/>
          </a:solidFill>
          <a:ln cap="flat" cmpd="sng" w="12700">
            <a:solidFill>
              <a:srgbClr val="3D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502920" y="135331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lsblk -f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502920" y="1691640"/>
            <a:ext cx="3840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sda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├─sda1  vfat  /boot/efi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├─sda2  xfs   /boot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└─sda3  crypto_LUKS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  └─luks-…  LVM2_member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    ├─vg_sistema-lv_root   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    ├─vg_sistema-lv_var    /var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    ├─vg_sistema-lv_varlog /var/log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    ├─vg_sistema-lv_vartmp /var/tmp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    ├─vg_sistema-lv_home   /home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    ├─vg_sistema-lv_tmp    /tmp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    └─vg_sistema-lv_swap   [SWAP]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sdb  crypto_LUKS 2 (2º disco)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663440" y="1280160"/>
            <a:ext cx="4114800" cy="3566160"/>
          </a:xfrm>
          <a:prstGeom prst="roundRect">
            <a:avLst>
              <a:gd fmla="val 2051" name="adj"/>
            </a:avLst>
          </a:prstGeom>
          <a:solidFill>
            <a:srgbClr val="2D2B3D"/>
          </a:solidFill>
          <a:ln cap="flat" cmpd="sng" w="12700">
            <a:solidFill>
              <a:srgbClr val="3D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4800600" y="135331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pvs · vgs · lvs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4800600" y="1691640"/>
            <a:ext cx="3840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PV: /dev/mapper/luks-…   ~47,99g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PV: /dev/mapper/cryptsdb  19,98g ← 2º disco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VG: vg_sistema  ~67,97g  livre: 19,98g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lv_root   14,98g  /        xfs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lv_var     8,00g  /var     xfs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lv_varlog  5,00g  /var/log xfs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lv_vartmp  3,00g  /var/tmp xfs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lv_home   10,00g  /home    xfs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lv_tmp     3,00g  /tmp     xfs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lv_swap    4,00g  swap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⚠ 19,98g livres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365760" y="502920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CP_02_CentOs · github.com/F4elWall/CP_02_CentOs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457200" y="182880"/>
            <a:ext cx="2194560" cy="347472"/>
          </a:xfrm>
          <a:prstGeom prst="roundRect">
            <a:avLst>
              <a:gd fmla="val 13158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457200" y="18288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F2E"/>
                </a:solidFill>
                <a:latin typeface="Calibri"/>
                <a:ea typeface="Calibri"/>
                <a:cs typeface="Calibri"/>
                <a:sym typeface="Calibri"/>
              </a:rPr>
              <a:t>Configurações de Endurecimento SSH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365760" y="1298448"/>
            <a:ext cx="2377440" cy="347472"/>
          </a:xfrm>
          <a:prstGeom prst="rect">
            <a:avLst/>
          </a:prstGeom>
          <a:solidFill>
            <a:srgbClr val="6B21A8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438912" y="1298448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Diretiva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2788920" y="1298448"/>
            <a:ext cx="2011680" cy="347472"/>
          </a:xfrm>
          <a:prstGeom prst="rect">
            <a:avLst/>
          </a:prstGeom>
          <a:solidFill>
            <a:srgbClr val="6B21A8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2862072" y="1298448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846320" y="1298448"/>
            <a:ext cx="4297680" cy="347472"/>
          </a:xfrm>
          <a:prstGeom prst="rect">
            <a:avLst/>
          </a:prstGeom>
          <a:solidFill>
            <a:srgbClr val="6B21A8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4919472" y="1298448"/>
            <a:ext cx="4151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Ataque mitigado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65760" y="1645920"/>
            <a:ext cx="237744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438912" y="1645920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PermitRootLogin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2788920" y="1645920"/>
            <a:ext cx="20116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2862072" y="1645920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846320" y="1645920"/>
            <a:ext cx="42976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4919472" y="1645920"/>
            <a:ext cx="4151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Acesso direto como root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65760" y="1993392"/>
            <a:ext cx="2377440" cy="347472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438912" y="1993392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PasswordAuthentication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2788920" y="1993392"/>
            <a:ext cx="2011680" cy="347472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2862072" y="1993392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846320" y="1993392"/>
            <a:ext cx="4297680" cy="347472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 txBox="1"/>
          <p:nvPr/>
        </p:nvSpPr>
        <p:spPr>
          <a:xfrm>
            <a:off x="4919472" y="1993392"/>
            <a:ext cx="4151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Brute-force de senha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365760" y="2340864"/>
            <a:ext cx="237744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438912" y="2340864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Port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2788920" y="2340864"/>
            <a:ext cx="20116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 txBox="1"/>
          <p:nvPr/>
        </p:nvSpPr>
        <p:spPr>
          <a:xfrm>
            <a:off x="2862072" y="2340864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2222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846320" y="2340864"/>
            <a:ext cx="42976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4919472" y="2340864"/>
            <a:ext cx="4151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Scanners automáticos na 22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365760" y="2688336"/>
            <a:ext cx="2377440" cy="347472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438912" y="2688336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MaxAuthTries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2788920" y="2688336"/>
            <a:ext cx="2011680" cy="347472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2862072" y="2688336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846320" y="2688336"/>
            <a:ext cx="4297680" cy="347472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4919472" y="2688336"/>
            <a:ext cx="4151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Ataques de força bruta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365760" y="3035808"/>
            <a:ext cx="237744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438912" y="3035808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LoginGraceTime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2788920" y="3035808"/>
            <a:ext cx="20116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2862072" y="3035808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30s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846320" y="3035808"/>
            <a:ext cx="42976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4919472" y="3035808"/>
            <a:ext cx="4151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Conexões penduradas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365760" y="3383280"/>
            <a:ext cx="2377440" cy="347472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438912" y="3383280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ClientAliveInterval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2788920" y="3383280"/>
            <a:ext cx="2011680" cy="347472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2862072" y="3383280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300s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4846320" y="3383280"/>
            <a:ext cx="4297680" cy="347472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 txBox="1"/>
          <p:nvPr/>
        </p:nvSpPr>
        <p:spPr>
          <a:xfrm>
            <a:off x="4919472" y="3383280"/>
            <a:ext cx="4151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Sessões zumbi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365760" y="3730752"/>
            <a:ext cx="237744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438912" y="3730752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AllowGroups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2788920" y="3730752"/>
            <a:ext cx="20116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2862072" y="3730752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ssh-users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846320" y="3730752"/>
            <a:ext cx="42976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4919472" y="3730752"/>
            <a:ext cx="4151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Acesso apenas a usuários autorizados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65760" y="4078224"/>
            <a:ext cx="2377440" cy="347472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 txBox="1"/>
          <p:nvPr/>
        </p:nvSpPr>
        <p:spPr>
          <a:xfrm>
            <a:off x="438912" y="4078224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Banner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2788920" y="4078224"/>
            <a:ext cx="2011680" cy="347472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2862072" y="4078224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/etc/issue.net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4846320" y="4078224"/>
            <a:ext cx="4297680" cy="347472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4919472" y="4078224"/>
            <a:ext cx="4151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Requisito legal / aviso de auditoria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365760" y="4425696"/>
            <a:ext cx="237744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 txBox="1"/>
          <p:nvPr/>
        </p:nvSpPr>
        <p:spPr>
          <a:xfrm>
            <a:off x="438912" y="4425696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Ciphers / MACs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2788920" y="4425696"/>
            <a:ext cx="20116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2862072" y="4425696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AES-256 · ChaCha20 · SHA-2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4846320" y="4425696"/>
            <a:ext cx="42976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4919472" y="4425696"/>
            <a:ext cx="4151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Cifras e MACs legados removidos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365760" y="4736592"/>
            <a:ext cx="8412480" cy="347472"/>
          </a:xfrm>
          <a:prstGeom prst="roundRect">
            <a:avLst>
              <a:gd fmla="val 13158" name="adj"/>
            </a:avLst>
          </a:prstGeom>
          <a:solidFill>
            <a:srgbClr val="EDE9FE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502920" y="473659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semanage port -l | grep ssh  →  ssh_port_t tcp 2222, 22   ·   firewalld libera apenas porta 2222/tcp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2E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"/>
          <p:cNvSpPr/>
          <p:nvPr/>
        </p:nvSpPr>
        <p:spPr>
          <a:xfrm>
            <a:off x="457200" y="182880"/>
            <a:ext cx="2926080" cy="347472"/>
          </a:xfrm>
          <a:prstGeom prst="roundRect">
            <a:avLst>
              <a:gd fmla="val 13158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 txBox="1"/>
          <p:nvPr/>
        </p:nvSpPr>
        <p:spPr>
          <a:xfrm>
            <a:off x="457200" y="18288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DEMONSTRAÇÃO SSH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Chave funciona · Senha falha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365760" y="1298448"/>
            <a:ext cx="4160520" cy="3429000"/>
          </a:xfrm>
          <a:prstGeom prst="roundRect">
            <a:avLst>
              <a:gd fmla="val 2133" name="adj"/>
            </a:avLst>
          </a:prstGeom>
          <a:solidFill>
            <a:srgbClr val="2D2B3D"/>
          </a:solidFill>
          <a:ln cap="flat" cmpd="sng" w="12700">
            <a:solidFill>
              <a:srgbClr val="3D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502920" y="1417320"/>
            <a:ext cx="1645920" cy="292608"/>
          </a:xfrm>
          <a:prstGeom prst="roundRect">
            <a:avLst>
              <a:gd fmla="val 12500" name="adj"/>
            </a:avLst>
          </a:prstGeom>
          <a:solidFill>
            <a:srgbClr val="166534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 txBox="1"/>
          <p:nvPr/>
        </p:nvSpPr>
        <p:spPr>
          <a:xfrm>
            <a:off x="502920" y="141732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Login </a:t>
            </a: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chave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502920" y="1783080"/>
            <a:ext cx="384048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$ ssh -i ~/.ssh/id_ed25519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    -p 2222 </a:t>
            </a:r>
            <a:r>
              <a:rPr lang="en-US" sz="950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admin@127.0.0.1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set 15 22:47:25 localhost.localdomain sshd-session[7085]: Accepted publickey for admin from 10.0.2.2 port 58443 ssh2: ED25519 SHA256:1TG4gS5v7u0j7NR7xllRrFKkAoWSi8ry2d2voBglYOA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4663440" y="1298448"/>
            <a:ext cx="4114800" cy="3429000"/>
          </a:xfrm>
          <a:prstGeom prst="roundRect">
            <a:avLst>
              <a:gd fmla="val 2133" name="adj"/>
            </a:avLst>
          </a:prstGeom>
          <a:solidFill>
            <a:srgbClr val="2D2B3D"/>
          </a:solidFill>
          <a:ln cap="flat" cmpd="sng" w="12700">
            <a:solidFill>
              <a:srgbClr val="3D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4800600" y="1417320"/>
            <a:ext cx="1737360" cy="292608"/>
          </a:xfrm>
          <a:prstGeom prst="roundRect">
            <a:avLst>
              <a:gd fmla="val 12500" name="adj"/>
            </a:avLst>
          </a:prstGeom>
          <a:solidFill>
            <a:srgbClr val="7F1D1D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>
            <a:off x="4800600" y="141732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Tentativa com senha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4800600" y="1783080"/>
            <a:ext cx="384048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CA5A5"/>
                </a:solidFill>
                <a:latin typeface="Courier New"/>
                <a:ea typeface="Courier New"/>
                <a:cs typeface="Courier New"/>
                <a:sym typeface="Courier New"/>
              </a:rPr>
              <a:t>$ ssh -o PreferredAuthentications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CA5A5"/>
                </a:solidFill>
                <a:latin typeface="Courier New"/>
                <a:ea typeface="Courier New"/>
                <a:cs typeface="Courier New"/>
                <a:sym typeface="Courier New"/>
              </a:rPr>
              <a:t>    =password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CA5A5"/>
                </a:solidFill>
                <a:latin typeface="Courier New"/>
                <a:ea typeface="Courier New"/>
                <a:cs typeface="Courier New"/>
                <a:sym typeface="Courier New"/>
              </a:rPr>
              <a:t>    -o PubkeyAuthentication=no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CA5A5"/>
                </a:solidFill>
                <a:latin typeface="Courier New"/>
                <a:ea typeface="Courier New"/>
                <a:cs typeface="Courier New"/>
                <a:sym typeface="Courier New"/>
              </a:rPr>
              <a:t>    -p 2222 usuario@servidor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CA5A5"/>
                </a:solidFill>
                <a:latin typeface="Courier New"/>
                <a:ea typeface="Courier New"/>
                <a:cs typeface="Courier New"/>
                <a:sym typeface="Courier New"/>
              </a:rPr>
              <a:t>Permission denied (publickey).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CA5A5"/>
                </a:solidFill>
                <a:latin typeface="Courier New"/>
                <a:ea typeface="Courier New"/>
                <a:cs typeface="Courier New"/>
                <a:sym typeface="Courier New"/>
              </a:rPr>
              <a:t># journalctl -u sshd | grep Failed</a:t>
            </a:r>
            <a:endParaRPr b="0" i="0" sz="950" u="none" cap="none" strike="noStrike">
              <a:solidFill>
                <a:srgbClr val="FCA5A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950"/>
              <a:buFont typeface="Courier New"/>
              <a:buNone/>
            </a:pPr>
            <a:r>
              <a:t/>
            </a:r>
            <a:endParaRPr sz="950">
              <a:solidFill>
                <a:srgbClr val="FCA5A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FCA5A5"/>
                </a:solidFill>
                <a:latin typeface="Courier New"/>
                <a:ea typeface="Courier New"/>
                <a:cs typeface="Courier New"/>
                <a:sym typeface="Courier New"/>
              </a:rPr>
              <a:t>set 15 22:49:58 localhost.localdomain sshd-session[7125]: Connection reset by authenticating user admin 10.0.2.2 port 26232 [preauth]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365760" y="502920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CP_02_CentOs · github.com/F4elWall/CP_02_CentOs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"/>
          <p:cNvSpPr/>
          <p:nvPr/>
        </p:nvSpPr>
        <p:spPr>
          <a:xfrm>
            <a:off x="457200" y="182880"/>
            <a:ext cx="2194560" cy="347472"/>
          </a:xfrm>
          <a:prstGeom prst="roundRect">
            <a:avLst>
              <a:gd fmla="val 13158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 txBox="1"/>
          <p:nvPr/>
        </p:nvSpPr>
        <p:spPr>
          <a:xfrm>
            <a:off x="457200" y="18288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SCRIPT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1F2E"/>
                </a:solidFill>
                <a:latin typeface="Calibri"/>
                <a:ea typeface="Calibri"/>
                <a:cs typeface="Calibri"/>
                <a:sym typeface="Calibri"/>
              </a:rPr>
              <a:t>cis-baseline-check.sh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65760" y="1298448"/>
            <a:ext cx="1600200" cy="685800"/>
          </a:xfrm>
          <a:prstGeom prst="roundRect">
            <a:avLst>
              <a:gd fmla="val 9333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 txBox="1"/>
          <p:nvPr/>
        </p:nvSpPr>
        <p:spPr>
          <a:xfrm>
            <a:off x="365760" y="134416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 txBox="1"/>
          <p:nvPr/>
        </p:nvSpPr>
        <p:spPr>
          <a:xfrm>
            <a:off x="365760" y="164592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SELinux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2103120" y="1298448"/>
            <a:ext cx="1600200" cy="685800"/>
          </a:xfrm>
          <a:prstGeom prst="roundRect">
            <a:avLst>
              <a:gd fmla="val 9333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 txBox="1"/>
          <p:nvPr/>
        </p:nvSpPr>
        <p:spPr>
          <a:xfrm>
            <a:off x="2103120" y="134416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2103120" y="164592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Montagens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3840480" y="1298448"/>
            <a:ext cx="1600200" cy="685800"/>
          </a:xfrm>
          <a:prstGeom prst="roundRect">
            <a:avLst>
              <a:gd fmla="val 9333" name="adj"/>
            </a:avLst>
          </a:prstGeom>
          <a:solidFill>
            <a:srgbClr val="5B21B6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 txBox="1"/>
          <p:nvPr/>
        </p:nvSpPr>
        <p:spPr>
          <a:xfrm>
            <a:off x="3840480" y="134416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3840480" y="164592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Serviços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5577840" y="1298448"/>
            <a:ext cx="1600200" cy="685800"/>
          </a:xfrm>
          <a:prstGeom prst="roundRect">
            <a:avLst>
              <a:gd fmla="val 9333" name="adj"/>
            </a:avLst>
          </a:prstGeom>
          <a:solidFill>
            <a:srgbClr val="4C1D95"/>
          </a:solidFill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5577840" y="134416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 txBox="1"/>
          <p:nvPr/>
        </p:nvSpPr>
        <p:spPr>
          <a:xfrm>
            <a:off x="5577840" y="164592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Permissões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7315200" y="1298448"/>
            <a:ext cx="1600200" cy="685800"/>
          </a:xfrm>
          <a:prstGeom prst="roundRect">
            <a:avLst>
              <a:gd fmla="val 9333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 txBox="1"/>
          <p:nvPr/>
        </p:nvSpPr>
        <p:spPr>
          <a:xfrm>
            <a:off x="7315200" y="134416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 txBox="1"/>
          <p:nvPr/>
        </p:nvSpPr>
        <p:spPr>
          <a:xfrm>
            <a:off x="7315200" y="164592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SUID/SGID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65760" y="2103120"/>
            <a:ext cx="1600200" cy="685800"/>
          </a:xfrm>
          <a:prstGeom prst="roundRect">
            <a:avLst>
              <a:gd fmla="val 9333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 txBox="1"/>
          <p:nvPr/>
        </p:nvSpPr>
        <p:spPr>
          <a:xfrm>
            <a:off x="365760" y="214884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365760" y="245059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auditd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2103120" y="2103120"/>
            <a:ext cx="1600200" cy="685800"/>
          </a:xfrm>
          <a:prstGeom prst="roundRect">
            <a:avLst>
              <a:gd fmla="val 9333" name="adj"/>
            </a:avLst>
          </a:prstGeom>
          <a:solidFill>
            <a:srgbClr val="5B21B6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 txBox="1"/>
          <p:nvPr/>
        </p:nvSpPr>
        <p:spPr>
          <a:xfrm>
            <a:off x="2103120" y="214884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 txBox="1"/>
          <p:nvPr/>
        </p:nvSpPr>
        <p:spPr>
          <a:xfrm>
            <a:off x="2103120" y="245059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SSH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3840480" y="2103120"/>
            <a:ext cx="1600200" cy="685800"/>
          </a:xfrm>
          <a:prstGeom prst="roundRect">
            <a:avLst>
              <a:gd fmla="val 9333" name="adj"/>
            </a:avLst>
          </a:prstGeom>
          <a:solidFill>
            <a:srgbClr val="4C1D95"/>
          </a:solidFill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 txBox="1"/>
          <p:nvPr/>
        </p:nvSpPr>
        <p:spPr>
          <a:xfrm>
            <a:off x="3840480" y="214884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 txBox="1"/>
          <p:nvPr/>
        </p:nvSpPr>
        <p:spPr>
          <a:xfrm>
            <a:off x="3840480" y="245059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5577840" y="2103120"/>
            <a:ext cx="1600200" cy="685800"/>
          </a:xfrm>
          <a:prstGeom prst="roundRect">
            <a:avLst>
              <a:gd fmla="val 9333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 txBox="1"/>
          <p:nvPr/>
        </p:nvSpPr>
        <p:spPr>
          <a:xfrm>
            <a:off x="5577840" y="214884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 txBox="1"/>
          <p:nvPr/>
        </p:nvSpPr>
        <p:spPr>
          <a:xfrm>
            <a:off x="5577840" y="245059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sysctl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7315200" y="2103120"/>
            <a:ext cx="1600200" cy="685800"/>
          </a:xfrm>
          <a:prstGeom prst="roundRect">
            <a:avLst>
              <a:gd fmla="val 9333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 txBox="1"/>
          <p:nvPr/>
        </p:nvSpPr>
        <p:spPr>
          <a:xfrm>
            <a:off x="7315200" y="214884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 txBox="1"/>
          <p:nvPr/>
        </p:nvSpPr>
        <p:spPr>
          <a:xfrm>
            <a:off x="7315200" y="245059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Atualizações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365760" y="2971800"/>
            <a:ext cx="8412480" cy="640080"/>
          </a:xfrm>
          <a:prstGeom prst="roundRect">
            <a:avLst>
              <a:gd fmla="val 10000" name="adj"/>
            </a:avLst>
          </a:prstGeom>
          <a:solidFill>
            <a:srgbClr val="064E3B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 txBox="1"/>
          <p:nvPr/>
        </p:nvSpPr>
        <p:spPr>
          <a:xfrm>
            <a:off x="502920" y="2971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32 verificações · 32 passaram · 0 falharam · Score 100% — Conceito 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 txBox="1"/>
          <p:nvPr/>
        </p:nvSpPr>
        <p:spPr>
          <a:xfrm>
            <a:off x="365760" y="37490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Requisitos comuns atendidos: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365760" y="4069080"/>
            <a:ext cx="1097280" cy="502920"/>
          </a:xfrm>
          <a:prstGeom prst="roundRect">
            <a:avLst>
              <a:gd fmla="val 9091" name="adj"/>
            </a:avLst>
          </a:prstGeom>
          <a:solidFill>
            <a:srgbClr val="EDE9FE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 txBox="1"/>
          <p:nvPr/>
        </p:nvSpPr>
        <p:spPr>
          <a:xfrm>
            <a:off x="411480" y="406908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set -euo pipefail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1600200" y="4069080"/>
            <a:ext cx="1097280" cy="502920"/>
          </a:xfrm>
          <a:prstGeom prst="roundRect">
            <a:avLst>
              <a:gd fmla="val 9091" name="adj"/>
            </a:avLst>
          </a:prstGeom>
          <a:solidFill>
            <a:srgbClr val="EDE9FE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 txBox="1"/>
          <p:nvPr/>
        </p:nvSpPr>
        <p:spPr>
          <a:xfrm>
            <a:off x="1645920" y="406908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5+ funções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2834640" y="4069080"/>
            <a:ext cx="1097280" cy="502920"/>
          </a:xfrm>
          <a:prstGeom prst="roundRect">
            <a:avLst>
              <a:gd fmla="val 9091" name="adj"/>
            </a:avLst>
          </a:prstGeom>
          <a:solidFill>
            <a:srgbClr val="EDE9FE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 txBox="1"/>
          <p:nvPr/>
        </p:nvSpPr>
        <p:spPr>
          <a:xfrm>
            <a:off x="2880360" y="406908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getopts (-h/--help)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4206240" y="4069080"/>
            <a:ext cx="1097280" cy="502920"/>
          </a:xfrm>
          <a:prstGeom prst="roundRect">
            <a:avLst>
              <a:gd fmla="val 9091" name="adj"/>
            </a:avLst>
          </a:prstGeom>
          <a:solidFill>
            <a:srgbClr val="EDE9FE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4251960" y="406908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Logging INFO/WARN/ERROR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5669280" y="4069080"/>
            <a:ext cx="1097280" cy="502920"/>
          </a:xfrm>
          <a:prstGeom prst="roundRect">
            <a:avLst>
              <a:gd fmla="val 9091" name="adj"/>
            </a:avLst>
          </a:prstGeom>
          <a:solidFill>
            <a:srgbClr val="EDE9FE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 txBox="1"/>
          <p:nvPr/>
        </p:nvSpPr>
        <p:spPr>
          <a:xfrm>
            <a:off x="5715000" y="406908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Códigos 0/1/2/3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6858000" y="4069080"/>
            <a:ext cx="1097280" cy="502920"/>
          </a:xfrm>
          <a:prstGeom prst="roundRect">
            <a:avLst>
              <a:gd fmla="val 9091" name="adj"/>
            </a:avLst>
          </a:prstGeom>
          <a:solidFill>
            <a:srgbClr val="EDE9FE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 txBox="1"/>
          <p:nvPr/>
        </p:nvSpPr>
        <p:spPr>
          <a:xfrm>
            <a:off x="6903720" y="406908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Idempotente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7863840" y="4069080"/>
            <a:ext cx="1097280" cy="502920"/>
          </a:xfrm>
          <a:prstGeom prst="roundRect">
            <a:avLst>
              <a:gd fmla="val 9091" name="adj"/>
            </a:avLst>
          </a:prstGeom>
          <a:solidFill>
            <a:srgbClr val="EDE9FE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 txBox="1"/>
          <p:nvPr/>
        </p:nvSpPr>
        <p:spPr>
          <a:xfrm>
            <a:off x="7909560" y="406908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shellcheck limpo*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274310" y="4859100"/>
            <a:ext cx="8412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CP_02_CentOs · github.com/F4elWall/CP_02_CentOs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b73b98341_0_514"/>
          <p:cNvSpPr/>
          <p:nvPr/>
        </p:nvSpPr>
        <p:spPr>
          <a:xfrm>
            <a:off x="150310" y="857248"/>
            <a:ext cx="4160400" cy="3429000"/>
          </a:xfrm>
          <a:prstGeom prst="roundRect">
            <a:avLst>
              <a:gd fmla="val 2133" name="adj"/>
            </a:avLst>
          </a:prstGeom>
          <a:solidFill>
            <a:srgbClr val="2D2B3D"/>
          </a:solidFill>
          <a:ln cap="flat" cmpd="sng" w="12700">
            <a:solidFill>
              <a:srgbClr val="3D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fb73b98341_0_514"/>
          <p:cNvSpPr/>
          <p:nvPr/>
        </p:nvSpPr>
        <p:spPr>
          <a:xfrm>
            <a:off x="457200" y="182880"/>
            <a:ext cx="2194500" cy="347400"/>
          </a:xfrm>
          <a:prstGeom prst="roundRect">
            <a:avLst>
              <a:gd fmla="val 13158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fb73b98341_0_514"/>
          <p:cNvSpPr txBox="1"/>
          <p:nvPr/>
        </p:nvSpPr>
        <p:spPr>
          <a:xfrm>
            <a:off x="457200" y="182880"/>
            <a:ext cx="2194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SCRIPT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fb73b98341_0_514"/>
          <p:cNvSpPr txBox="1"/>
          <p:nvPr/>
        </p:nvSpPr>
        <p:spPr>
          <a:xfrm>
            <a:off x="351525" y="970950"/>
            <a:ext cx="38553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[2026-09-15 23:01:19] [INFO] ===== RESULTADO FINAL =====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[2026-09-15 23:01:20] [INFO] Total de verificações : 32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[2026-09-15 23:01:20] [INFO] Passaram              : 32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[2026-09-15 23:01:20] [INFO] Falharam              : 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[2026-09-15 23:01:20] [INFO] Avisos                : 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[2026-09-15 23:01:20] [INFO] Score                 : 100% — Conceito A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[2026-09-15 23:01:21] [INFO] Relatório HTML salvo em: /var/log/cis-baseline-check.html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"/>
          <p:cNvSpPr/>
          <p:nvPr/>
        </p:nvSpPr>
        <p:spPr>
          <a:xfrm>
            <a:off x="457200" y="182880"/>
            <a:ext cx="2560320" cy="347472"/>
          </a:xfrm>
          <a:prstGeom prst="roundRect">
            <a:avLst>
              <a:gd fmla="val 13158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 txBox="1"/>
          <p:nvPr/>
        </p:nvSpPr>
        <p:spPr>
          <a:xfrm>
            <a:off x="457200" y="18288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 txBox="1"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1F2E"/>
                </a:solidFill>
                <a:latin typeface="Calibri"/>
                <a:ea typeface="Calibri"/>
                <a:cs typeface="Calibri"/>
                <a:sym typeface="Calibri"/>
              </a:rPr>
              <a:t>Script vs OpenSCAP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365760" y="1298448"/>
            <a:ext cx="2286000" cy="384048"/>
          </a:xfrm>
          <a:prstGeom prst="rect">
            <a:avLst/>
          </a:prstGeom>
          <a:solidFill>
            <a:srgbClr val="6B21A8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 txBox="1"/>
          <p:nvPr/>
        </p:nvSpPr>
        <p:spPr>
          <a:xfrm>
            <a:off x="438912" y="1298448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Aspecto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2697480" y="1298448"/>
            <a:ext cx="2834640" cy="384048"/>
          </a:xfrm>
          <a:prstGeom prst="rect">
            <a:avLst/>
          </a:prstGeom>
          <a:solidFill>
            <a:srgbClr val="6B21A8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 txBox="1"/>
          <p:nvPr/>
        </p:nvSpPr>
        <p:spPr>
          <a:xfrm>
            <a:off x="2770632" y="1298448"/>
            <a:ext cx="26883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cis-baseline-check.sh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5577840" y="1298448"/>
            <a:ext cx="3657600" cy="384048"/>
          </a:xfrm>
          <a:prstGeom prst="rect">
            <a:avLst/>
          </a:prstGeom>
          <a:solidFill>
            <a:srgbClr val="6B21A8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 txBox="1"/>
          <p:nvPr/>
        </p:nvSpPr>
        <p:spPr>
          <a:xfrm>
            <a:off x="5650992" y="1298448"/>
            <a:ext cx="3511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OpenSCAP + scap-security-guide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365760" y="1682496"/>
            <a:ext cx="228600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 txBox="1"/>
          <p:nvPr/>
        </p:nvSpPr>
        <p:spPr>
          <a:xfrm>
            <a:off x="438912" y="1682496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Verificações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2697480" y="1682496"/>
            <a:ext cx="283464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 txBox="1"/>
          <p:nvPr/>
        </p:nvSpPr>
        <p:spPr>
          <a:xfrm>
            <a:off x="2770632" y="1682496"/>
            <a:ext cx="26883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32 personalizadas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5577840" y="1682496"/>
            <a:ext cx="365760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 txBox="1"/>
          <p:nvPr/>
        </p:nvSpPr>
        <p:spPr>
          <a:xfrm>
            <a:off x="5650992" y="1682496"/>
            <a:ext cx="3511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200+ (CIS + STIG + PCI)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365760" y="2066544"/>
            <a:ext cx="2286000" cy="38404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 txBox="1"/>
          <p:nvPr/>
        </p:nvSpPr>
        <p:spPr>
          <a:xfrm>
            <a:off x="438912" y="206654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Formato do relatório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2697480" y="2066544"/>
            <a:ext cx="2834640" cy="38404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"/>
          <p:cNvSpPr txBox="1"/>
          <p:nvPr/>
        </p:nvSpPr>
        <p:spPr>
          <a:xfrm>
            <a:off x="2770632" y="2066544"/>
            <a:ext cx="26883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HTML + log em texto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5577840" y="2066544"/>
            <a:ext cx="3657600" cy="38404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 txBox="1"/>
          <p:nvPr/>
        </p:nvSpPr>
        <p:spPr>
          <a:xfrm>
            <a:off x="5650992" y="2066544"/>
            <a:ext cx="3511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HTML · XML · ARF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365760" y="2450592"/>
            <a:ext cx="228600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 txBox="1"/>
          <p:nvPr/>
        </p:nvSpPr>
        <p:spPr>
          <a:xfrm>
            <a:off x="438912" y="2450592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Remediação automática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2697480" y="2450592"/>
            <a:ext cx="283464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 txBox="1"/>
          <p:nvPr/>
        </p:nvSpPr>
        <p:spPr>
          <a:xfrm>
            <a:off x="2770632" y="2450592"/>
            <a:ext cx="26883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Não (só auditoria)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5577840" y="2450592"/>
            <a:ext cx="365760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"/>
          <p:cNvSpPr txBox="1"/>
          <p:nvPr/>
        </p:nvSpPr>
        <p:spPr>
          <a:xfrm>
            <a:off x="5650992" y="2450592"/>
            <a:ext cx="3511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Sim (Ansible / Bash)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365760" y="2834640"/>
            <a:ext cx="2286000" cy="38404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8"/>
          <p:cNvSpPr txBox="1"/>
          <p:nvPr/>
        </p:nvSpPr>
        <p:spPr>
          <a:xfrm>
            <a:off x="438912" y="2834640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Portabilidade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2697480" y="2834640"/>
            <a:ext cx="2834640" cy="38404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8"/>
          <p:cNvSpPr txBox="1"/>
          <p:nvPr/>
        </p:nvSpPr>
        <p:spPr>
          <a:xfrm>
            <a:off x="2770632" y="2834640"/>
            <a:ext cx="26883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Qualquer bash 4+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5577840" y="2834640"/>
            <a:ext cx="3657600" cy="38404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8"/>
          <p:cNvSpPr txBox="1"/>
          <p:nvPr/>
        </p:nvSpPr>
        <p:spPr>
          <a:xfrm>
            <a:off x="5650992" y="2834640"/>
            <a:ext cx="3511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Requer openscap-scanner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365760" y="3218688"/>
            <a:ext cx="228600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8"/>
          <p:cNvSpPr txBox="1"/>
          <p:nvPr/>
        </p:nvSpPr>
        <p:spPr>
          <a:xfrm>
            <a:off x="438912" y="3218688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Curva de aprendizado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2697480" y="3218688"/>
            <a:ext cx="283464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8"/>
          <p:cNvSpPr txBox="1"/>
          <p:nvPr/>
        </p:nvSpPr>
        <p:spPr>
          <a:xfrm>
            <a:off x="2770632" y="3218688"/>
            <a:ext cx="26883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Baixa — legível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5577840" y="3218688"/>
            <a:ext cx="365760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8"/>
          <p:cNvSpPr txBox="1"/>
          <p:nvPr/>
        </p:nvSpPr>
        <p:spPr>
          <a:xfrm>
            <a:off x="5650992" y="3218688"/>
            <a:ext cx="3511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Alta — XCCDF / OVAL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365760" y="3602736"/>
            <a:ext cx="2286000" cy="38404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8"/>
          <p:cNvSpPr txBox="1"/>
          <p:nvPr/>
        </p:nvSpPr>
        <p:spPr>
          <a:xfrm>
            <a:off x="438912" y="3602736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Integração CI/CD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2697480" y="3602736"/>
            <a:ext cx="2834640" cy="38404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8"/>
          <p:cNvSpPr txBox="1"/>
          <p:nvPr/>
        </p:nvSpPr>
        <p:spPr>
          <a:xfrm>
            <a:off x="2770632" y="3602736"/>
            <a:ext cx="26883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Simples (exit code)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5577840" y="3602736"/>
            <a:ext cx="3657600" cy="384048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"/>
          <p:cNvSpPr txBox="1"/>
          <p:nvPr/>
        </p:nvSpPr>
        <p:spPr>
          <a:xfrm>
            <a:off x="5650992" y="3602736"/>
            <a:ext cx="3511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Nativa com Satellite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365760" y="3986784"/>
            <a:ext cx="228600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8"/>
          <p:cNvSpPr txBox="1"/>
          <p:nvPr/>
        </p:nvSpPr>
        <p:spPr>
          <a:xfrm>
            <a:off x="438912" y="3986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Manutenção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2697480" y="3986784"/>
            <a:ext cx="283464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"/>
          <p:cNvSpPr txBox="1"/>
          <p:nvPr/>
        </p:nvSpPr>
        <p:spPr>
          <a:xfrm>
            <a:off x="2770632" y="3986784"/>
            <a:ext cx="26883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Nosso grupo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5577840" y="3986784"/>
            <a:ext cx="365760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8"/>
          <p:cNvSpPr txBox="1"/>
          <p:nvPr/>
        </p:nvSpPr>
        <p:spPr>
          <a:xfrm>
            <a:off x="5650992" y="3986784"/>
            <a:ext cx="3511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Comunidade Red Hat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365760" y="4617720"/>
            <a:ext cx="8412480" cy="438912"/>
          </a:xfrm>
          <a:prstGeom prst="roundRect">
            <a:avLst>
              <a:gd fmla="val 10417" name="adj"/>
            </a:avLst>
          </a:prstGeom>
          <a:solidFill>
            <a:srgbClr val="EDE9FE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8"/>
          <p:cNvSpPr txBox="1"/>
          <p:nvPr/>
        </p:nvSpPr>
        <p:spPr>
          <a:xfrm>
            <a:off x="502920" y="461772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O script é ideal para aprendizado e auditoria rápida; OpenSCAP é a escolha em produção corporativa por cobertura e remediação automatizada.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b73b98341_0_439"/>
          <p:cNvSpPr/>
          <p:nvPr/>
        </p:nvSpPr>
        <p:spPr>
          <a:xfrm>
            <a:off x="457200" y="182880"/>
            <a:ext cx="2011800" cy="347400"/>
          </a:xfrm>
          <a:prstGeom prst="roundRect">
            <a:avLst>
              <a:gd fmla="val 13158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fb73b98341_0_439"/>
          <p:cNvSpPr txBox="1"/>
          <p:nvPr/>
        </p:nvSpPr>
        <p:spPr>
          <a:xfrm>
            <a:off x="457200" y="182880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PERGUNTAS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fb73b98341_0_439"/>
          <p:cNvSpPr txBox="1"/>
          <p:nvPr/>
        </p:nvSpPr>
        <p:spPr>
          <a:xfrm>
            <a:off x="457200" y="658368"/>
            <a:ext cx="8229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E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F1F2E"/>
                </a:solidFill>
                <a:latin typeface="Calibri"/>
                <a:ea typeface="Calibri"/>
                <a:cs typeface="Calibri"/>
                <a:sym typeface="Calibri"/>
              </a:rPr>
              <a:t>Perguntas de m</a:t>
            </a:r>
            <a:r>
              <a:rPr b="1" i="0" lang="en-US" sz="2800" u="none" cap="none" strike="noStrike">
                <a:solidFill>
                  <a:srgbClr val="1F1F2E"/>
                </a:solidFill>
                <a:latin typeface="Calibri"/>
                <a:ea typeface="Calibri"/>
                <a:cs typeface="Calibri"/>
                <a:sym typeface="Calibri"/>
              </a:rPr>
              <a:t>últipla escolha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fb73b98341_0_439"/>
          <p:cNvSpPr/>
          <p:nvPr/>
        </p:nvSpPr>
        <p:spPr>
          <a:xfrm>
            <a:off x="3177590" y="1309798"/>
            <a:ext cx="2788800" cy="3657600"/>
          </a:xfrm>
          <a:prstGeom prst="roundRect">
            <a:avLst>
              <a:gd fmla="val 262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fb73b98341_0_439"/>
          <p:cNvSpPr txBox="1"/>
          <p:nvPr/>
        </p:nvSpPr>
        <p:spPr>
          <a:xfrm>
            <a:off x="3287318" y="1382950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1F2E"/>
                </a:solidFill>
                <a:latin typeface="Calibri"/>
                <a:ea typeface="Calibri"/>
                <a:cs typeface="Calibri"/>
                <a:sym typeface="Calibri"/>
              </a:rPr>
              <a:t>CentOS Stream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fb73b98341_0_439"/>
          <p:cNvSpPr txBox="1"/>
          <p:nvPr/>
        </p:nvSpPr>
        <p:spPr>
          <a:xfrm>
            <a:off x="3287318" y="170299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21A8"/>
                </a:solidFill>
                <a:latin typeface="Calibri"/>
                <a:ea typeface="Calibri"/>
                <a:cs typeface="Calibri"/>
                <a:sym typeface="Calibri"/>
              </a:rPr>
              <a:t>Modelo upstream contínuo ou diferença para o RHEL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fb73b98341_0_439"/>
          <p:cNvSpPr txBox="1"/>
          <p:nvPr/>
        </p:nvSpPr>
        <p:spPr>
          <a:xfrm>
            <a:off x="3287318" y="2096182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a) É idêntico ao RHEL, uma cópia binária 1:1 apenas com nome diferente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fb73b98341_0_439"/>
          <p:cNvSpPr txBox="1"/>
          <p:nvPr/>
        </p:nvSpPr>
        <p:spPr>
          <a:xfrm>
            <a:off x="3287318" y="2653966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b) Fica posicionado como upstream contínuo, antes do RHEL na cadeia de desenvolvimento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fb73b98341_0_439"/>
          <p:cNvSpPr txBox="1"/>
          <p:nvPr/>
        </p:nvSpPr>
        <p:spPr>
          <a:xfrm>
            <a:off x="3287318" y="3211750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c) Serve como espaço de testes, onde pacotes são validados antes do próximo point release do RHEL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fb73b98341_0_439"/>
          <p:cNvSpPr txBox="1"/>
          <p:nvPr/>
        </p:nvSpPr>
        <p:spPr>
          <a:xfrm>
            <a:off x="3287318" y="3769534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d) É um rolling release totalmente desconectado do ciclo de vida do RHEL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fb73b98341_0_439"/>
          <p:cNvSpPr txBox="1"/>
          <p:nvPr/>
        </p:nvSpPr>
        <p:spPr>
          <a:xfrm>
            <a:off x="3287318" y="4327318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e) Substitui completamente o RHEL em ambientes de produção crítica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2E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b73b98341_0_358"/>
          <p:cNvSpPr/>
          <p:nvPr/>
        </p:nvSpPr>
        <p:spPr>
          <a:xfrm>
            <a:off x="457200" y="182880"/>
            <a:ext cx="2011800" cy="347400"/>
          </a:xfrm>
          <a:prstGeom prst="roundRect">
            <a:avLst>
              <a:gd fmla="val 13158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fb73b98341_0_358"/>
          <p:cNvSpPr txBox="1"/>
          <p:nvPr/>
        </p:nvSpPr>
        <p:spPr>
          <a:xfrm>
            <a:off x="457200" y="182880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RESPOSTAS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fb73b98341_0_358"/>
          <p:cNvSpPr txBox="1"/>
          <p:nvPr/>
        </p:nvSpPr>
        <p:spPr>
          <a:xfrm>
            <a:off x="457200" y="658368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Alternativa correta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fb73b98341_0_358"/>
          <p:cNvSpPr/>
          <p:nvPr/>
        </p:nvSpPr>
        <p:spPr>
          <a:xfrm>
            <a:off x="3177590" y="1411823"/>
            <a:ext cx="2788800" cy="3566100"/>
          </a:xfrm>
          <a:prstGeom prst="roundRect">
            <a:avLst>
              <a:gd fmla="val 2623" name="adj"/>
            </a:avLst>
          </a:prstGeom>
          <a:solidFill>
            <a:srgbClr val="2D2B3D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fb73b98341_0_358"/>
          <p:cNvSpPr txBox="1"/>
          <p:nvPr/>
        </p:nvSpPr>
        <p:spPr>
          <a:xfrm>
            <a:off x="3287318" y="1484975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CentOS Stream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fb73b98341_0_358"/>
          <p:cNvSpPr/>
          <p:nvPr/>
        </p:nvSpPr>
        <p:spPr>
          <a:xfrm>
            <a:off x="3287318" y="1878167"/>
            <a:ext cx="2541900" cy="255900"/>
          </a:xfrm>
          <a:prstGeom prst="rect">
            <a:avLst/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fb73b98341_0_358"/>
          <p:cNvSpPr txBox="1"/>
          <p:nvPr/>
        </p:nvSpPr>
        <p:spPr>
          <a:xfrm>
            <a:off x="3287318" y="1878167"/>
            <a:ext cx="254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ALTERNATIVA(S) CORRETA(S)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fb73b98341_0_358"/>
          <p:cNvSpPr txBox="1"/>
          <p:nvPr/>
        </p:nvSpPr>
        <p:spPr>
          <a:xfrm>
            <a:off x="3287318" y="2198207"/>
            <a:ext cx="2560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✓  b) Posiciona-se como upstream contínuo, antes do RHEL na cadeia de desenvolvimento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fb73b98341_0_358"/>
          <p:cNvSpPr txBox="1"/>
          <p:nvPr/>
        </p:nvSpPr>
        <p:spPr>
          <a:xfrm>
            <a:off x="3287318" y="3021167"/>
            <a:ext cx="2560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✓  c) Serve como espaço de testes: pacotes são validados antes de entrarem no próximo point release do RHEL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b73b98341_0_66"/>
          <p:cNvSpPr/>
          <p:nvPr/>
        </p:nvSpPr>
        <p:spPr>
          <a:xfrm>
            <a:off x="457200" y="182880"/>
            <a:ext cx="2011800" cy="347400"/>
          </a:xfrm>
          <a:prstGeom prst="roundRect">
            <a:avLst>
              <a:gd fmla="val 13158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fb73b98341_0_66"/>
          <p:cNvSpPr txBox="1"/>
          <p:nvPr/>
        </p:nvSpPr>
        <p:spPr>
          <a:xfrm>
            <a:off x="457200" y="182880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PERGUNTAS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fb73b98341_0_66"/>
          <p:cNvSpPr txBox="1"/>
          <p:nvPr/>
        </p:nvSpPr>
        <p:spPr>
          <a:xfrm>
            <a:off x="457200" y="658368"/>
            <a:ext cx="8229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E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fb73b98341_0_66"/>
          <p:cNvSpPr/>
          <p:nvPr/>
        </p:nvSpPr>
        <p:spPr>
          <a:xfrm>
            <a:off x="3246120" y="1298448"/>
            <a:ext cx="2788800" cy="3657600"/>
          </a:xfrm>
          <a:prstGeom prst="roundRect">
            <a:avLst>
              <a:gd fmla="val 2623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fb73b98341_0_66"/>
          <p:cNvSpPr txBox="1"/>
          <p:nvPr/>
        </p:nvSpPr>
        <p:spPr>
          <a:xfrm>
            <a:off x="3355848" y="1371600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LUKS e o /boot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fb73b98341_0_66"/>
          <p:cNvSpPr txBox="1"/>
          <p:nvPr/>
        </p:nvSpPr>
        <p:spPr>
          <a:xfrm>
            <a:off x="3355848" y="169164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9D5FF"/>
                </a:solidFill>
                <a:latin typeface="Calibri"/>
                <a:ea typeface="Calibri"/>
                <a:cs typeface="Calibri"/>
                <a:sym typeface="Calibri"/>
              </a:rPr>
              <a:t>Por que o /boot fica fora da criptografia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fb73b98341_0_66"/>
          <p:cNvSpPr txBox="1"/>
          <p:nvPr/>
        </p:nvSpPr>
        <p:spPr>
          <a:xfrm>
            <a:off x="3355848" y="2084832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3F4F6"/>
                </a:solidFill>
                <a:latin typeface="Calibri"/>
                <a:ea typeface="Calibri"/>
                <a:cs typeface="Calibri"/>
                <a:sym typeface="Calibri"/>
              </a:rPr>
              <a:t>a) Porque o /boot não contém dado sensível e não precisa de proteção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fb73b98341_0_66"/>
          <p:cNvSpPr txBox="1"/>
          <p:nvPr/>
        </p:nvSpPr>
        <p:spPr>
          <a:xfrm>
            <a:off x="3355848" y="2642616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3F4F6"/>
                </a:solidFill>
                <a:latin typeface="Calibri"/>
                <a:ea typeface="Calibri"/>
                <a:cs typeface="Calibri"/>
                <a:sym typeface="Calibri"/>
              </a:rPr>
              <a:t>b) Porque o bootloader precisa ler kernel e initramfs antes de pedir a senha — e o suporte do GRUB2 a /boot criptografado é limitado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fb73b98341_0_66"/>
          <p:cNvSpPr txBox="1"/>
          <p:nvPr/>
        </p:nvSpPr>
        <p:spPr>
          <a:xfrm>
            <a:off x="3355848" y="3200400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3F4F6"/>
                </a:solidFill>
                <a:latin typeface="Calibri"/>
                <a:ea typeface="Calibri"/>
                <a:cs typeface="Calibri"/>
                <a:sym typeface="Calibri"/>
              </a:rPr>
              <a:t>c) Porque o LUKS não é compatível com ext4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fb73b98341_0_66"/>
          <p:cNvSpPr txBox="1"/>
          <p:nvPr/>
        </p:nvSpPr>
        <p:spPr>
          <a:xfrm>
            <a:off x="3355848" y="3758184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3F4F6"/>
                </a:solidFill>
                <a:latin typeface="Calibri"/>
                <a:ea typeface="Calibri"/>
                <a:cs typeface="Calibri"/>
                <a:sym typeface="Calibri"/>
              </a:rPr>
              <a:t>d) Porque criptografar o /boot deixaria o boot mais rápido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fb73b98341_0_66"/>
          <p:cNvSpPr txBox="1"/>
          <p:nvPr/>
        </p:nvSpPr>
        <p:spPr>
          <a:xfrm>
            <a:off x="3355848" y="4315968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F4F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3F4F6"/>
                </a:solidFill>
                <a:latin typeface="Calibri"/>
                <a:ea typeface="Calibri"/>
                <a:cs typeface="Calibri"/>
                <a:sym typeface="Calibri"/>
              </a:rPr>
              <a:t>e) Porque o /boot sempre fica em um servidor remoto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2E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b73b98341_0_382"/>
          <p:cNvSpPr/>
          <p:nvPr/>
        </p:nvSpPr>
        <p:spPr>
          <a:xfrm>
            <a:off x="457200" y="182880"/>
            <a:ext cx="2011800" cy="347400"/>
          </a:xfrm>
          <a:prstGeom prst="roundRect">
            <a:avLst>
              <a:gd fmla="val 13158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fb73b98341_0_382"/>
          <p:cNvSpPr txBox="1"/>
          <p:nvPr/>
        </p:nvSpPr>
        <p:spPr>
          <a:xfrm>
            <a:off x="457200" y="182880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RESPOSTAS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fb73b98341_0_382"/>
          <p:cNvSpPr/>
          <p:nvPr/>
        </p:nvSpPr>
        <p:spPr>
          <a:xfrm>
            <a:off x="3246120" y="1298448"/>
            <a:ext cx="2788800" cy="3566100"/>
          </a:xfrm>
          <a:prstGeom prst="roundRect">
            <a:avLst>
              <a:gd fmla="val 2623" name="adj"/>
            </a:avLst>
          </a:prstGeom>
          <a:solidFill>
            <a:srgbClr val="2D2B3D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fb73b98341_0_382"/>
          <p:cNvSpPr txBox="1"/>
          <p:nvPr/>
        </p:nvSpPr>
        <p:spPr>
          <a:xfrm>
            <a:off x="3355848" y="1371600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LUKS e o /boot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fb73b98341_0_382"/>
          <p:cNvSpPr/>
          <p:nvPr/>
        </p:nvSpPr>
        <p:spPr>
          <a:xfrm>
            <a:off x="3355848" y="1764792"/>
            <a:ext cx="2541900" cy="255900"/>
          </a:xfrm>
          <a:prstGeom prst="rect">
            <a:avLst/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fb73b98341_0_382"/>
          <p:cNvSpPr txBox="1"/>
          <p:nvPr/>
        </p:nvSpPr>
        <p:spPr>
          <a:xfrm>
            <a:off x="3355848" y="1764792"/>
            <a:ext cx="254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ALTERNATIVA(S) CORRETA(S)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fb73b98341_0_382"/>
          <p:cNvSpPr txBox="1"/>
          <p:nvPr/>
        </p:nvSpPr>
        <p:spPr>
          <a:xfrm>
            <a:off x="3355848" y="2084832"/>
            <a:ext cx="2560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✓  b) O bootloader precisa ler kernel e initramfs antes de poder pedir a senha de descriptografia — e o suporte do GRUB2 a /boot criptografado é limitado e complexo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b73b98341_0_99"/>
          <p:cNvSpPr/>
          <p:nvPr/>
        </p:nvSpPr>
        <p:spPr>
          <a:xfrm>
            <a:off x="457200" y="182880"/>
            <a:ext cx="2011800" cy="347400"/>
          </a:xfrm>
          <a:prstGeom prst="roundRect">
            <a:avLst>
              <a:gd fmla="val 13158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fb73b98341_0_99"/>
          <p:cNvSpPr txBox="1"/>
          <p:nvPr/>
        </p:nvSpPr>
        <p:spPr>
          <a:xfrm>
            <a:off x="457200" y="182880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PERGUNTAS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fb73b98341_0_99"/>
          <p:cNvSpPr/>
          <p:nvPr/>
        </p:nvSpPr>
        <p:spPr>
          <a:xfrm>
            <a:off x="3177600" y="1188773"/>
            <a:ext cx="2788800" cy="3657600"/>
          </a:xfrm>
          <a:prstGeom prst="roundRect">
            <a:avLst>
              <a:gd fmla="val 262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fb73b98341_0_99"/>
          <p:cNvSpPr txBox="1"/>
          <p:nvPr/>
        </p:nvSpPr>
        <p:spPr>
          <a:xfrm>
            <a:off x="3287328" y="1261925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1F2E"/>
                </a:solidFill>
                <a:latin typeface="Calibri"/>
                <a:ea typeface="Calibri"/>
                <a:cs typeface="Calibri"/>
                <a:sym typeface="Calibri"/>
              </a:rPr>
              <a:t>LVM a quente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fb73b98341_0_99"/>
          <p:cNvSpPr txBox="1"/>
          <p:nvPr/>
        </p:nvSpPr>
        <p:spPr>
          <a:xfrm>
            <a:off x="3287328" y="1581965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21A8"/>
                </a:solidFill>
                <a:latin typeface="Calibri"/>
                <a:ea typeface="Calibri"/>
                <a:cs typeface="Calibri"/>
                <a:sym typeface="Calibri"/>
              </a:rPr>
              <a:t>O que o LVM permite fazer sem desmontar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fb73b98341_0_99"/>
          <p:cNvSpPr txBox="1"/>
          <p:nvPr/>
        </p:nvSpPr>
        <p:spPr>
          <a:xfrm>
            <a:off x="3287328" y="1975157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a) Redimensionar (aumentar) um volume lógico e o sistema de arquivos sobre ele, sem desmontar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fb73b98341_0_99"/>
          <p:cNvSpPr txBox="1"/>
          <p:nvPr/>
        </p:nvSpPr>
        <p:spPr>
          <a:xfrm>
            <a:off x="3287328" y="2532941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b) Instalar um sistema operacional sem bootloader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fb73b98341_0_99"/>
          <p:cNvSpPr txBox="1"/>
          <p:nvPr/>
        </p:nvSpPr>
        <p:spPr>
          <a:xfrm>
            <a:off x="3287328" y="3090725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c) Eliminar completamente a necessidade de backups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fb73b98341_0_99"/>
          <p:cNvSpPr txBox="1"/>
          <p:nvPr/>
        </p:nvSpPr>
        <p:spPr>
          <a:xfrm>
            <a:off x="3287328" y="3648509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d) Criptografar automaticamente todos os discos do sistema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fb73b98341_0_99"/>
          <p:cNvSpPr txBox="1"/>
          <p:nvPr/>
        </p:nvSpPr>
        <p:spPr>
          <a:xfrm>
            <a:off x="3287328" y="4206293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e) Rodar vários sistemas operacionais ao mesmo tempo na mesma partição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2E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b73b98341_0_488"/>
          <p:cNvSpPr/>
          <p:nvPr/>
        </p:nvSpPr>
        <p:spPr>
          <a:xfrm>
            <a:off x="457200" y="182880"/>
            <a:ext cx="2011800" cy="347400"/>
          </a:xfrm>
          <a:prstGeom prst="roundRect">
            <a:avLst>
              <a:gd fmla="val 13158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fb73b98341_0_488"/>
          <p:cNvSpPr txBox="1"/>
          <p:nvPr/>
        </p:nvSpPr>
        <p:spPr>
          <a:xfrm>
            <a:off x="457200" y="182880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RESPOSTAS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fb73b98341_0_488"/>
          <p:cNvSpPr/>
          <p:nvPr/>
        </p:nvSpPr>
        <p:spPr>
          <a:xfrm>
            <a:off x="3177600" y="1161173"/>
            <a:ext cx="2788800" cy="3566100"/>
          </a:xfrm>
          <a:prstGeom prst="roundRect">
            <a:avLst>
              <a:gd fmla="val 2623" name="adj"/>
            </a:avLst>
          </a:prstGeom>
          <a:solidFill>
            <a:srgbClr val="2D2B3D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fb73b98341_0_488"/>
          <p:cNvSpPr txBox="1"/>
          <p:nvPr/>
        </p:nvSpPr>
        <p:spPr>
          <a:xfrm>
            <a:off x="3287328" y="1234325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LVM a quente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fb73b98341_0_488"/>
          <p:cNvSpPr/>
          <p:nvPr/>
        </p:nvSpPr>
        <p:spPr>
          <a:xfrm>
            <a:off x="3287328" y="1627517"/>
            <a:ext cx="2541900" cy="255900"/>
          </a:xfrm>
          <a:prstGeom prst="rect">
            <a:avLst/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fb73b98341_0_488"/>
          <p:cNvSpPr txBox="1"/>
          <p:nvPr/>
        </p:nvSpPr>
        <p:spPr>
          <a:xfrm>
            <a:off x="3287328" y="1627517"/>
            <a:ext cx="254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ALTERNATIVA(S) CORRETA(S)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fb73b98341_0_488"/>
          <p:cNvSpPr txBox="1"/>
          <p:nvPr/>
        </p:nvSpPr>
        <p:spPr>
          <a:xfrm>
            <a:off x="3287328" y="1947557"/>
            <a:ext cx="2560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✓  a) Permite redimensionar (aumentar) um volume lógico e o sistema de arquivos sem desmontar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F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1"/>
          <p:cNvSpPr/>
          <p:nvPr/>
        </p:nvSpPr>
        <p:spPr>
          <a:xfrm>
            <a:off x="457200" y="182880"/>
            <a:ext cx="2011680" cy="347472"/>
          </a:xfrm>
          <a:prstGeom prst="roundRect">
            <a:avLst>
              <a:gd fmla="val 13158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1"/>
          <p:cNvSpPr txBox="1"/>
          <p:nvPr/>
        </p:nvSpPr>
        <p:spPr>
          <a:xfrm>
            <a:off x="457200" y="18288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PERGUNTAS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 txBox="1"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E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F1F2E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1" i="0" lang="en-US" sz="2800" u="none" cap="none" strike="noStrike">
                <a:solidFill>
                  <a:srgbClr val="1F1F2E"/>
                </a:solidFill>
                <a:latin typeface="Calibri"/>
                <a:ea typeface="Calibri"/>
                <a:cs typeface="Calibri"/>
                <a:sym typeface="Calibri"/>
              </a:rPr>
              <a:t>uestões dissertativas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365760" y="1298448"/>
            <a:ext cx="4206240" cy="34290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7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594360" y="1508760"/>
            <a:ext cx="685800" cy="685800"/>
          </a:xfrm>
          <a:prstGeom prst="roundRect">
            <a:avLst>
              <a:gd fmla="val 50667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1"/>
          <p:cNvSpPr txBox="1"/>
          <p:nvPr/>
        </p:nvSpPr>
        <p:spPr>
          <a:xfrm>
            <a:off x="594360" y="150876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 txBox="1"/>
          <p:nvPr/>
        </p:nvSpPr>
        <p:spPr>
          <a:xfrm>
            <a:off x="548640" y="2331720"/>
            <a:ext cx="38404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Por que manter espaço livre no VG é requisito de segurança, não otimização?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 txBox="1"/>
          <p:nvPr/>
        </p:nvSpPr>
        <p:spPr>
          <a:xfrm>
            <a:off x="365760" y="5047488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CP_02_CentOs · github.com/F4elWall/CP_02_CentOs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2E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b73b98341_0_344"/>
          <p:cNvSpPr/>
          <p:nvPr/>
        </p:nvSpPr>
        <p:spPr>
          <a:xfrm>
            <a:off x="457200" y="182880"/>
            <a:ext cx="2011800" cy="347400"/>
          </a:xfrm>
          <a:prstGeom prst="roundRect">
            <a:avLst>
              <a:gd fmla="val 13158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fb73b98341_0_344"/>
          <p:cNvSpPr txBox="1"/>
          <p:nvPr/>
        </p:nvSpPr>
        <p:spPr>
          <a:xfrm>
            <a:off x="457200" y="182880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RESPOSTAS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fb73b98341_0_344"/>
          <p:cNvSpPr txBox="1"/>
          <p:nvPr/>
        </p:nvSpPr>
        <p:spPr>
          <a:xfrm>
            <a:off x="457200" y="658368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Gabarito comentado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fb73b98341_0_344"/>
          <p:cNvSpPr/>
          <p:nvPr/>
        </p:nvSpPr>
        <p:spPr>
          <a:xfrm>
            <a:off x="365760" y="1298448"/>
            <a:ext cx="4206300" cy="3520500"/>
          </a:xfrm>
          <a:prstGeom prst="roundRect">
            <a:avLst>
              <a:gd fmla="val 2078" name="adj"/>
            </a:avLst>
          </a:prstGeom>
          <a:solidFill>
            <a:srgbClr val="2D2B3D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fb73b98341_0_344"/>
          <p:cNvSpPr txBox="1"/>
          <p:nvPr/>
        </p:nvSpPr>
        <p:spPr>
          <a:xfrm>
            <a:off x="530352" y="141732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Espaço livre no VG = requisito de segurança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fb73b98341_0_344"/>
          <p:cNvSpPr txBox="1"/>
          <p:nvPr/>
        </p:nvSpPr>
        <p:spPr>
          <a:xfrm>
            <a:off x="530352" y="1920240"/>
            <a:ext cx="3886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Incidentes de segurança geram demanda urgente e imprevisível por espaço. Logs de auditoria podem crescer de forma explosiva durante um ataque — se o disco enche, o sistema para de logar e a evidência se perde no momento mais crítico. Snapshots LVM para análise forense ou rollback também exigem espaço livre no VG: sem ele, não é possível congelar o estado do sistema comprometido antes de manipulá-lo.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F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b73b98341_0_472"/>
          <p:cNvSpPr/>
          <p:nvPr/>
        </p:nvSpPr>
        <p:spPr>
          <a:xfrm>
            <a:off x="457200" y="182880"/>
            <a:ext cx="2011800" cy="347400"/>
          </a:xfrm>
          <a:prstGeom prst="roundRect">
            <a:avLst>
              <a:gd fmla="val 13158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fb73b98341_0_472"/>
          <p:cNvSpPr txBox="1"/>
          <p:nvPr/>
        </p:nvSpPr>
        <p:spPr>
          <a:xfrm>
            <a:off x="457200" y="182880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PERGUNTAS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fb73b98341_0_472"/>
          <p:cNvSpPr/>
          <p:nvPr/>
        </p:nvSpPr>
        <p:spPr>
          <a:xfrm>
            <a:off x="457195" y="1161173"/>
            <a:ext cx="4206300" cy="34290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7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fb73b98341_0_472"/>
          <p:cNvSpPr/>
          <p:nvPr/>
        </p:nvSpPr>
        <p:spPr>
          <a:xfrm>
            <a:off x="685795" y="1371485"/>
            <a:ext cx="685800" cy="685800"/>
          </a:xfrm>
          <a:prstGeom prst="roundRect">
            <a:avLst>
              <a:gd fmla="val 50667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fb73b98341_0_472"/>
          <p:cNvSpPr txBox="1"/>
          <p:nvPr/>
        </p:nvSpPr>
        <p:spPr>
          <a:xfrm>
            <a:off x="685795" y="1371485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fb73b98341_0_472"/>
          <p:cNvSpPr txBox="1"/>
          <p:nvPr/>
        </p:nvSpPr>
        <p:spPr>
          <a:xfrm>
            <a:off x="640075" y="2194445"/>
            <a:ext cx="38406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Qual é o risco de manter o SSH na porta 22 com autenticação por senha?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2E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2"/>
          <p:cNvSpPr/>
          <p:nvPr/>
        </p:nvSpPr>
        <p:spPr>
          <a:xfrm>
            <a:off x="457200" y="182880"/>
            <a:ext cx="2011680" cy="347472"/>
          </a:xfrm>
          <a:prstGeom prst="roundRect">
            <a:avLst>
              <a:gd fmla="val 13158" name="adj"/>
            </a:avLst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2"/>
          <p:cNvSpPr txBox="1"/>
          <p:nvPr/>
        </p:nvSpPr>
        <p:spPr>
          <a:xfrm>
            <a:off x="457200" y="18288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RESPOSTAS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457195" y="1289198"/>
            <a:ext cx="4206300" cy="3520500"/>
          </a:xfrm>
          <a:prstGeom prst="roundRect">
            <a:avLst>
              <a:gd fmla="val 2078" name="adj"/>
            </a:avLst>
          </a:prstGeom>
          <a:solidFill>
            <a:srgbClr val="2D2B3D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2"/>
          <p:cNvSpPr txBox="1"/>
          <p:nvPr/>
        </p:nvSpPr>
        <p:spPr>
          <a:xfrm>
            <a:off x="621787" y="140807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SSH na porta 22 com senha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 txBox="1"/>
          <p:nvPr/>
        </p:nvSpPr>
        <p:spPr>
          <a:xfrm>
            <a:off x="621787" y="1910990"/>
            <a:ext cx="3886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O risco principal está na autenticação por senha: vulnerável a brute-force, dictionary attacks, credential stuffing e phishing, e sem suporte nativo forte a MFA. Isso já seria problema em qualquer porta, mas a porta padrão piora o cenário por ser o primeiro alvo de scanners e botnets varrendo a internet continuamente. Trocar a porta não é uma proteção real — apenas reduz o ruído de ataques automatizados.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2026-09-16T01:18:15Z</dcterms:created>
  <dc:creator>PptxGenJS</dc:creator>
</cp:coreProperties>
</file>